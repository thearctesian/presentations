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6000" b="1">
                <a:solidFill>
                  <a:srgbClr val="ECEFF4"/>
                </a:solidFill>
              </a:defRPr>
            </a:pPr>
            <a:r>
              <a:t>Nord Dark Theme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600" b="0">
                <a:solidFill>
                  <a:srgbClr val="88C0D0"/>
                </a:solidFill>
              </a:defRPr>
            </a:pPr>
            <a:r>
              <a:t>A Modern Presentation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8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8229600" cy="73152"/>
          </a:xfrm>
          <a:prstGeom prst="rect">
            <a:avLst/>
          </a:prstGeom>
          <a:solidFill>
            <a:srgbClr val="81A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4754880"/>
            <a:ext cx="457200" cy="457200"/>
          </a:xfrm>
          <a:prstGeom prst="rect">
            <a:avLst/>
          </a:prstGeom>
          <a:solidFill>
            <a:srgbClr val="BF6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1920" y="4754880"/>
            <a:ext cx="457200" cy="457200"/>
          </a:xfrm>
          <a:prstGeom prst="rect">
            <a:avLst/>
          </a:prstGeom>
          <a:solidFill>
            <a:srgbClr val="D0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4754880"/>
            <a:ext cx="457200" cy="457200"/>
          </a:xfrm>
          <a:prstGeom prst="rect">
            <a:avLst/>
          </a:prstGeom>
          <a:solidFill>
            <a:srgbClr val="EBC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94960" y="4754880"/>
            <a:ext cx="457200" cy="457200"/>
          </a:xfrm>
          <a:prstGeom prst="rect">
            <a:avLst/>
          </a:prstGeom>
          <a:solidFill>
            <a:srgbClr val="A3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2286000"/>
            <a:ext cx="137160" cy="2286000"/>
          </a:xfrm>
          <a:prstGeom prst="rect">
            <a:avLst/>
          </a:prstGeom>
          <a:solidFill>
            <a:srgbClr val="B4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ECEFF4"/>
                </a:solidFill>
              </a:defRPr>
            </a:pPr>
            <a:r>
              <a:t>Section Header</a:t>
            </a:r>
          </a:p>
          <a:p>
            <a:pPr>
              <a:spcBef>
                <a:spcPts val="1200"/>
              </a:spcBef>
              <a:defRPr sz="2400">
                <a:solidFill>
                  <a:srgbClr val="88C0D0"/>
                </a:solidFill>
              </a:defRPr>
            </a:pPr>
            <a:r>
              <a:t>Use this for major section breaks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ECEFF4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73152"/>
          </a:xfrm>
          <a:prstGeom prst="rect">
            <a:avLst/>
          </a:prstGeom>
          <a:solidFill>
            <a:srgbClr val="5E8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182880"/>
            <a:ext cx="274320" cy="274320"/>
          </a:xfrm>
          <a:prstGeom prst="rect">
            <a:avLst/>
          </a:prstGeom>
          <a:solidFill>
            <a:srgbClr val="A3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5669280"/>
            <a:ext cx="2743200" cy="731520"/>
          </a:xfrm>
          <a:prstGeom prst="rect">
            <a:avLst/>
          </a:prstGeom>
          <a:solidFill>
            <a:srgbClr val="434C5E"/>
          </a:solidFill>
          <a:ln w="25400">
            <a:solidFill>
              <a:srgbClr val="5E81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88C0D0"/>
                </a:solidFill>
              </a:defRPr>
            </a:pPr>
            <a:r>
              <a:t>Pro Tip: Use Frost colors for accents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ECEFF4"/>
                </a:solidFill>
              </a:defRPr>
            </a:pPr>
            <a:r>
              <a:t>Two-Column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8229600" cy="73152"/>
          </a:xfrm>
          <a:prstGeom prst="rect">
            <a:avLst/>
          </a:prstGeom>
          <a:solidFill>
            <a:srgbClr val="81A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0" y="182880"/>
            <a:ext cx="274320" cy="274320"/>
          </a:xfrm>
          <a:prstGeom prst="rect">
            <a:avLst/>
          </a:prstGeom>
          <a:solidFill>
            <a:srgbClr val="D0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8C0D0"/>
                </a:solidFill>
              </a:defRPr>
            </a:pPr>
            <a:r>
              <a:t>Left Column</a:t>
            </a:r>
          </a:p>
          <a:p>
            <a:pPr>
              <a:spcBef>
                <a:spcPts val="1200"/>
              </a:spcBef>
              <a:defRPr sz="2000">
                <a:solidFill>
                  <a:srgbClr val="D8DEE9"/>
                </a:solidFill>
              </a:defRPr>
            </a:pPr>
            <a:r>
              <a:t>Use this layout for comparisons, pros/cons, or parallel concepts.</a:t>
            </a:r>
          </a:p>
          <a:p>
            <a:pPr>
              <a:spcBef>
                <a:spcPts val="800"/>
              </a:spcBef>
              <a:defRPr sz="1800">
                <a:solidFill>
                  <a:srgbClr val="D8DEE9"/>
                </a:solidFill>
              </a:defRPr>
            </a:pPr>
            <a:r>
              <a:t>• Point one</a:t>
            </a:r>
          </a:p>
          <a:p>
            <a:pPr>
              <a:spcBef>
                <a:spcPts val="800"/>
              </a:spcBef>
              <a:defRPr sz="1800">
                <a:solidFill>
                  <a:srgbClr val="D8DEE9"/>
                </a:solidFill>
              </a:defRPr>
            </a:pPr>
            <a:r>
              <a:t>• Point two</a:t>
            </a:r>
          </a:p>
          <a:p>
            <a:pPr>
              <a:spcBef>
                <a:spcPts val="800"/>
              </a:spcBef>
              <a:defRPr sz="1800">
                <a:solidFill>
                  <a:srgbClr val="D8DEE9"/>
                </a:solidFill>
              </a:defRPr>
            </a:pPr>
            <a:r>
              <a:t>• Point three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27432" cy="4389120"/>
          </a:xfrm>
          <a:prstGeom prst="rect">
            <a:avLst/>
          </a:prstGeom>
          <a:solidFill>
            <a:srgbClr val="4C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3BE8C"/>
                </a:solidFill>
              </a:defRPr>
            </a:pPr>
            <a:r>
              <a:t>Right Column</a:t>
            </a:r>
          </a:p>
          <a:p>
            <a:pPr>
              <a:spcBef>
                <a:spcPts val="1200"/>
              </a:spcBef>
              <a:defRPr sz="2000">
                <a:solidFill>
                  <a:srgbClr val="D8DEE9"/>
                </a:solidFill>
              </a:defRPr>
            </a:pPr>
            <a:r>
              <a:t>Each column can have its own accent color for visual distinction.</a:t>
            </a:r>
          </a:p>
          <a:p>
            <a:pPr>
              <a:spcBef>
                <a:spcPts val="800"/>
              </a:spcBef>
              <a:defRPr sz="1800">
                <a:solidFill>
                  <a:srgbClr val="D8DEE9"/>
                </a:solidFill>
              </a:defRPr>
            </a:pPr>
            <a:r>
              <a:t>• Feature A</a:t>
            </a:r>
          </a:p>
          <a:p>
            <a:pPr>
              <a:spcBef>
                <a:spcPts val="800"/>
              </a:spcBef>
              <a:defRPr sz="1800">
                <a:solidFill>
                  <a:srgbClr val="D8DEE9"/>
                </a:solidFill>
              </a:defRPr>
            </a:pPr>
            <a:r>
              <a:t>• Feature B</a:t>
            </a:r>
          </a:p>
          <a:p>
            <a:pPr>
              <a:spcBef>
                <a:spcPts val="800"/>
              </a:spcBef>
              <a:defRPr sz="1800">
                <a:solidFill>
                  <a:srgbClr val="D8DEE9"/>
                </a:solidFill>
              </a:defRPr>
            </a:pPr>
            <a:r>
              <a:t>• Feature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ECEFF4"/>
                </a:solidFill>
              </a:defRPr>
            </a:pPr>
            <a:r>
              <a:t>Nord Color Palette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8229600" cy="73152"/>
          </a:xfrm>
          <a:prstGeom prst="rect">
            <a:avLst/>
          </a:prstGeom>
          <a:solidFill>
            <a:srgbClr val="88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E9F0"/>
                </a:solidFill>
              </a:defRPr>
            </a:pPr>
            <a:r>
              <a:t>Frost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011680"/>
            <a:ext cx="1097280" cy="731520"/>
          </a:xfrm>
          <a:prstGeom prst="rect">
            <a:avLst/>
          </a:prstGeom>
          <a:solidFill>
            <a:srgbClr val="8FB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788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8DEE9"/>
                </a:solidFill>
              </a:defRPr>
            </a:pPr>
            <a:r>
              <a:t>frost1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011680"/>
            <a:ext cx="1097280" cy="731520"/>
          </a:xfrm>
          <a:prstGeom prst="rect">
            <a:avLst/>
          </a:prstGeom>
          <a:solidFill>
            <a:srgbClr val="88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788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8DEE9"/>
                </a:solidFill>
              </a:defRPr>
            </a:pPr>
            <a:r>
              <a:t>frost2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011680"/>
            <a:ext cx="1097280" cy="731520"/>
          </a:xfrm>
          <a:prstGeom prst="rect">
            <a:avLst/>
          </a:prstGeom>
          <a:solidFill>
            <a:srgbClr val="81A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788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8DEE9"/>
                </a:solidFill>
              </a:defRPr>
            </a:pPr>
            <a:r>
              <a:t>frost3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2011680"/>
            <a:ext cx="1097280" cy="731520"/>
          </a:xfrm>
          <a:prstGeom prst="rect">
            <a:avLst/>
          </a:prstGeom>
          <a:solidFill>
            <a:srgbClr val="5E8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788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8DEE9"/>
                </a:solidFill>
              </a:defRPr>
            </a:pPr>
            <a:r>
              <a:t>frost4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5E9F0"/>
                </a:solidFill>
              </a:defRPr>
            </a:pPr>
            <a:r>
              <a:t>Aurora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383280"/>
            <a:ext cx="1097280" cy="731520"/>
          </a:xfrm>
          <a:prstGeom prst="rect">
            <a:avLst/>
          </a:prstGeom>
          <a:solidFill>
            <a:srgbClr val="BF6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4160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8DEE9"/>
                </a:solidFill>
              </a:defRPr>
            </a:pPr>
            <a:r>
              <a:t>aurora_red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383280"/>
            <a:ext cx="1097280" cy="731520"/>
          </a:xfrm>
          <a:prstGeom prst="rect">
            <a:avLst/>
          </a:prstGeom>
          <a:solidFill>
            <a:srgbClr val="D0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160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8DEE9"/>
                </a:solidFill>
              </a:defRPr>
            </a:pPr>
            <a:r>
              <a:t>aurora_orange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383280"/>
            <a:ext cx="1097280" cy="731520"/>
          </a:xfrm>
          <a:prstGeom prst="rect">
            <a:avLst/>
          </a:prstGeom>
          <a:solidFill>
            <a:srgbClr val="EBC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160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8DEE9"/>
                </a:solidFill>
              </a:defRPr>
            </a:pPr>
            <a:r>
              <a:t>aurora_yellow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3383280"/>
            <a:ext cx="1097280" cy="731520"/>
          </a:xfrm>
          <a:prstGeom prst="rect">
            <a:avLst/>
          </a:prstGeom>
          <a:solidFill>
            <a:srgbClr val="A3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4160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8DEE9"/>
                </a:solidFill>
              </a:defRPr>
            </a:pPr>
            <a:r>
              <a:t>aurora_green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3383280"/>
            <a:ext cx="1097280" cy="731520"/>
          </a:xfrm>
          <a:prstGeom prst="rect">
            <a:avLst/>
          </a:prstGeom>
          <a:solidFill>
            <a:srgbClr val="B4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4160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8DEE9"/>
                </a:solidFill>
              </a:defRPr>
            </a:pPr>
            <a:r>
              <a:t>aurora_purple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C566A"/>
                </a:solidFill>
              </a:defRPr>
            </a:pPr>
            <a:r>
              <a:t>Use Frost colors for UI elements and links • Use Aurora colors for highlights and callouts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0" cy="182880"/>
          </a:xfrm>
          <a:prstGeom prst="rect">
            <a:avLst/>
          </a:prstGeom>
          <a:solidFill>
            <a:srgbClr val="5E8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645920" cy="182880"/>
          </a:xfrm>
          <a:prstGeom prst="rect">
            <a:avLst/>
          </a:prstGeom>
          <a:solidFill>
            <a:srgbClr val="81A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645920" cy="182880"/>
          </a:xfrm>
          <a:prstGeom prst="rect">
            <a:avLst/>
          </a:prstGeom>
          <a:solidFill>
            <a:srgbClr val="88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1645920" cy="182880"/>
          </a:xfrm>
          <a:prstGeom prst="rect">
            <a:avLst/>
          </a:prstGeom>
          <a:solidFill>
            <a:srgbClr val="81A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1645920" cy="182880"/>
          </a:xfrm>
          <a:prstGeom prst="rect">
            <a:avLst/>
          </a:prstGeom>
          <a:solidFill>
            <a:srgbClr val="5E8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ECEFF4"/>
                </a:solidFill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C0D0"/>
                </a:solidFill>
              </a:defRPr>
            </a:pPr>
            <a:r>
              <a:t>Made with Nord Dark Theme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5029200"/>
            <a:ext cx="548640" cy="548640"/>
          </a:xfrm>
          <a:prstGeom prst="rect">
            <a:avLst/>
          </a:prstGeom>
          <a:solidFill>
            <a:srgbClr val="BF6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5029200"/>
            <a:ext cx="548640" cy="548640"/>
          </a:xfrm>
          <a:prstGeom prst="rect">
            <a:avLst/>
          </a:prstGeom>
          <a:solidFill>
            <a:srgbClr val="D08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5029200"/>
            <a:ext cx="548640" cy="548640"/>
          </a:xfrm>
          <a:prstGeom prst="rect">
            <a:avLst/>
          </a:prstGeom>
          <a:solidFill>
            <a:srgbClr val="EBC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5029200"/>
            <a:ext cx="548640" cy="548640"/>
          </a:xfrm>
          <a:prstGeom prst="rect">
            <a:avLst/>
          </a:prstGeom>
          <a:solidFill>
            <a:srgbClr val="A3B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5029200"/>
            <a:ext cx="548640" cy="548640"/>
          </a:xfrm>
          <a:prstGeom prst="rect">
            <a:avLst/>
          </a:prstGeom>
          <a:solidFill>
            <a:srgbClr val="B48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